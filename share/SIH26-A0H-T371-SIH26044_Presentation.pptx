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esearchrepository.ilo.org/esploro/outputs/report/India-employment-report-2024-youth-employment/995360092402676?utm" TargetMode="External"/><Relationship Id="rId13" Type="http://schemas.openxmlformats.org/officeDocument/2006/relationships/hyperlink" Target="https://www.unesco.org/en/node/217106?utm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www.ilo.org/publications/india-employment-report-2024-youth-employment-education-and-skills?utm" TargetMode="External"/><Relationship Id="rId12" Type="http://schemas.openxmlformats.org/officeDocument/2006/relationships/hyperlink" Target="https://www.oecd.org/en/publications/understanding-skill-gaps-in-firms_b388d1da-en.html?ut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3.weforum.org/docs/WEF_Future_of_Jobs_Report_2025.pdf?utm" TargetMode="External"/><Relationship Id="rId11" Type="http://schemas.openxmlformats.org/officeDocument/2006/relationships/hyperlink" Target="https://www.oecd.org/en/publications/a-skills-first-labour-market_2e1b85f0-en/full-report/positioning-skills-as-the-new-currency-of-work_40815b16.html?utm" TargetMode="External"/><Relationship Id="rId5" Type="http://schemas.openxmlformats.org/officeDocument/2006/relationships/hyperlink" Target="https://www.weforum.org/publications/the-future-of-jobs-report-2025/digest/?utm" TargetMode="External"/><Relationship Id="rId10" Type="http://schemas.openxmlformats.org/officeDocument/2006/relationships/hyperlink" Target="https://www.oecd.org/en/publications/getting-skills-right-assessing-and-anticipating-changing-skill-needs_9789264252073-en.html?ut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oecd.org/en/publications/getting-skills-right-skills-for-jobs-indicators_9789264277878-en.html?utm" TargetMode="External"/><Relationship Id="rId14" Type="http://schemas.openxmlformats.org/officeDocument/2006/relationships/hyperlink" Target="https://www.unesco.org/en/digital-education?hub=66813&amp;u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18625" y="2268322"/>
            <a:ext cx="9085007" cy="7275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endParaRPr/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 SIH26044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Portal for Academia - Industry collaboration for Skill Mapping, Internships and Placement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Automation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SIH26-A0H-T371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Strike Out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2570740" cy="1213856"/>
            <a:chOff x="0" y="0"/>
            <a:chExt cx="3427654" cy="1618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4665318" y="0"/>
            <a:ext cx="3622682" cy="1222949"/>
          </a:xfrm>
          <a:custGeom>
            <a:avLst/>
            <a:gdLst/>
            <a:ahLst/>
            <a:cxnLst/>
            <a:rect l="l" t="t" r="r" b="b"/>
            <a:pathLst>
              <a:path w="3622682" h="1222949">
                <a:moveTo>
                  <a:pt x="0" y="0"/>
                </a:moveTo>
                <a:lnTo>
                  <a:pt x="3622682" y="0"/>
                </a:lnTo>
                <a:lnTo>
                  <a:pt x="3622682" y="1222949"/>
                </a:lnTo>
                <a:lnTo>
                  <a:pt x="0" y="1222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05" t="-19328" b="-112424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4930790" y="0"/>
            <a:ext cx="2570740" cy="1213856"/>
            <a:chOff x="0" y="0"/>
            <a:chExt cx="3427654" cy="16184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3357210" cy="1222949"/>
          </a:xfrm>
          <a:custGeom>
            <a:avLst/>
            <a:gdLst/>
            <a:ahLst/>
            <a:cxnLst/>
            <a:rect l="l" t="t" r="r" b="b"/>
            <a:pathLst>
              <a:path w="3357210" h="1222949">
                <a:moveTo>
                  <a:pt x="0" y="0"/>
                </a:moveTo>
                <a:lnTo>
                  <a:pt x="3357210" y="0"/>
                </a:lnTo>
                <a:lnTo>
                  <a:pt x="3357210" y="1222949"/>
                </a:lnTo>
                <a:lnTo>
                  <a:pt x="0" y="1222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47" b="-72171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75612" y="174450"/>
            <a:ext cx="2227650" cy="864009"/>
            <a:chOff x="0" y="0"/>
            <a:chExt cx="2970200" cy="1152012"/>
          </a:xfrm>
        </p:grpSpPr>
        <p:sp>
          <p:nvSpPr>
            <p:cNvPr id="13" name="Freeform 13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0"/>
            <a:ext cx="18288000" cy="9808369"/>
          </a:xfrm>
          <a:custGeom>
            <a:avLst/>
            <a:gdLst/>
            <a:ahLst/>
            <a:cxnLst/>
            <a:rect l="l" t="t" r="r" b="b"/>
            <a:pathLst>
              <a:path w="18288000" h="9808369">
                <a:moveTo>
                  <a:pt x="0" y="0"/>
                </a:moveTo>
                <a:lnTo>
                  <a:pt x="18288000" y="0"/>
                </a:lnTo>
                <a:lnTo>
                  <a:pt x="18288000" y="9808369"/>
                </a:lnTo>
                <a:lnTo>
                  <a:pt x="0" y="980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5" b="-4940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271110" y="174450"/>
            <a:ext cx="3086100" cy="1039406"/>
            <a:chOff x="0" y="0"/>
            <a:chExt cx="812800" cy="2737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273753"/>
            </a:xfrm>
            <a:custGeom>
              <a:avLst/>
              <a:gdLst/>
              <a:ahLst/>
              <a:cxnLst/>
              <a:rect l="l" t="t" r="r" b="b"/>
              <a:pathLst>
                <a:path w="812800" h="273753">
                  <a:moveTo>
                    <a:pt x="0" y="0"/>
                  </a:moveTo>
                  <a:lnTo>
                    <a:pt x="812800" y="0"/>
                  </a:lnTo>
                  <a:lnTo>
                    <a:pt x="812800" y="273753"/>
                  </a:lnTo>
                  <a:lnTo>
                    <a:pt x="0" y="2737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812800" cy="292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71110" y="179470"/>
            <a:ext cx="2227650" cy="864009"/>
            <a:chOff x="0" y="0"/>
            <a:chExt cx="2970200" cy="1152012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173200" y="4073"/>
            <a:ext cx="3629811" cy="1209784"/>
            <a:chOff x="0" y="0"/>
            <a:chExt cx="956000" cy="3186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6000" cy="318626"/>
            </a:xfrm>
            <a:custGeom>
              <a:avLst/>
              <a:gdLst/>
              <a:ahLst/>
              <a:cxnLst/>
              <a:rect l="l" t="t" r="r" b="b"/>
              <a:pathLst>
                <a:path w="956000" h="318626">
                  <a:moveTo>
                    <a:pt x="0" y="0"/>
                  </a:moveTo>
                  <a:lnTo>
                    <a:pt x="956000" y="0"/>
                  </a:lnTo>
                  <a:lnTo>
                    <a:pt x="956000" y="318626"/>
                  </a:lnTo>
                  <a:lnTo>
                    <a:pt x="0" y="318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956000" cy="337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321538" y="61028"/>
            <a:ext cx="2310242" cy="1090854"/>
            <a:chOff x="0" y="0"/>
            <a:chExt cx="3427654" cy="16184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0" y="9808369"/>
            <a:ext cx="18288000" cy="631031"/>
            <a:chOff x="0" y="0"/>
            <a:chExt cx="24384000" cy="8413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384000" cy="841375"/>
            </a:xfrm>
            <a:custGeom>
              <a:avLst/>
              <a:gdLst/>
              <a:ahLst/>
              <a:cxnLst/>
              <a:rect l="l" t="t" r="r" b="b"/>
              <a:pathLst>
                <a:path w="24384000" h="841375">
                  <a:moveTo>
                    <a:pt x="0" y="0"/>
                  </a:moveTo>
                  <a:lnTo>
                    <a:pt x="24384000" y="0"/>
                  </a:lnTo>
                  <a:lnTo>
                    <a:pt x="24384000" y="841375"/>
                  </a:lnTo>
                  <a:lnTo>
                    <a:pt x="0" y="8413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4566429" y="-39917"/>
            <a:ext cx="3721571" cy="1383427"/>
          </a:xfrm>
          <a:custGeom>
            <a:avLst/>
            <a:gdLst/>
            <a:ahLst/>
            <a:cxnLst/>
            <a:rect l="l" t="t" r="r" b="b"/>
            <a:pathLst>
              <a:path w="3721571" h="1383427">
                <a:moveTo>
                  <a:pt x="0" y="0"/>
                </a:moveTo>
                <a:lnTo>
                  <a:pt x="3721571" y="0"/>
                </a:lnTo>
                <a:lnTo>
                  <a:pt x="3721571" y="1383427"/>
                </a:lnTo>
                <a:lnTo>
                  <a:pt x="0" y="1383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875" b="-4294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3721571" cy="1383427"/>
          </a:xfrm>
          <a:custGeom>
            <a:avLst/>
            <a:gdLst/>
            <a:ahLst/>
            <a:cxnLst/>
            <a:rect l="l" t="t" r="r" b="b"/>
            <a:pathLst>
              <a:path w="3721571" h="1383427">
                <a:moveTo>
                  <a:pt x="0" y="0"/>
                </a:moveTo>
                <a:lnTo>
                  <a:pt x="3721571" y="0"/>
                </a:lnTo>
                <a:lnTo>
                  <a:pt x="3721571" y="1383427"/>
                </a:lnTo>
                <a:lnTo>
                  <a:pt x="0" y="1383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875" b="-42946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75612" y="174450"/>
            <a:ext cx="2227650" cy="864009"/>
            <a:chOff x="0" y="0"/>
            <a:chExt cx="2970200" cy="1152012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930790" y="0"/>
            <a:ext cx="2570740" cy="1213856"/>
            <a:chOff x="0" y="0"/>
            <a:chExt cx="3427654" cy="16184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18267703" cy="10287000"/>
          </a:xfrm>
          <a:custGeom>
            <a:avLst/>
            <a:gdLst/>
            <a:ahLst/>
            <a:cxnLst/>
            <a:rect l="l" t="t" r="r" b="b"/>
            <a:pathLst>
              <a:path w="18267703" h="10287000">
                <a:moveTo>
                  <a:pt x="0" y="0"/>
                </a:moveTo>
                <a:lnTo>
                  <a:pt x="18267703" y="0"/>
                </a:lnTo>
                <a:lnTo>
                  <a:pt x="182677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271110" y="174450"/>
            <a:ext cx="3086100" cy="1039406"/>
            <a:chOff x="0" y="0"/>
            <a:chExt cx="812800" cy="2737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273753"/>
            </a:xfrm>
            <a:custGeom>
              <a:avLst/>
              <a:gdLst/>
              <a:ahLst/>
              <a:cxnLst/>
              <a:rect l="l" t="t" r="r" b="b"/>
              <a:pathLst>
                <a:path w="812800" h="273753">
                  <a:moveTo>
                    <a:pt x="0" y="0"/>
                  </a:moveTo>
                  <a:lnTo>
                    <a:pt x="812800" y="0"/>
                  </a:lnTo>
                  <a:lnTo>
                    <a:pt x="812800" y="273753"/>
                  </a:lnTo>
                  <a:lnTo>
                    <a:pt x="0" y="2737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812800" cy="292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287500" y="0"/>
            <a:ext cx="3629811" cy="1213856"/>
            <a:chOff x="0" y="0"/>
            <a:chExt cx="956000" cy="3196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6000" cy="319699"/>
            </a:xfrm>
            <a:custGeom>
              <a:avLst/>
              <a:gdLst/>
              <a:ahLst/>
              <a:cxnLst/>
              <a:rect l="l" t="t" r="r" b="b"/>
              <a:pathLst>
                <a:path w="956000" h="319699">
                  <a:moveTo>
                    <a:pt x="0" y="0"/>
                  </a:moveTo>
                  <a:lnTo>
                    <a:pt x="956000" y="0"/>
                  </a:lnTo>
                  <a:lnTo>
                    <a:pt x="956000" y="319699"/>
                  </a:lnTo>
                  <a:lnTo>
                    <a:pt x="0" y="3196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56000" cy="338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240000" y="71960"/>
            <a:ext cx="2418340" cy="1141896"/>
            <a:chOff x="0" y="0"/>
            <a:chExt cx="3427654" cy="16184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475612" y="210904"/>
            <a:ext cx="2227650" cy="864009"/>
            <a:chOff x="0" y="0"/>
            <a:chExt cx="2970200" cy="1152012"/>
          </a:xfrm>
        </p:grpSpPr>
        <p:sp>
          <p:nvSpPr>
            <p:cNvPr id="25" name="Freeform 25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9655969"/>
            <a:ext cx="18288000" cy="631031"/>
            <a:chOff x="0" y="0"/>
            <a:chExt cx="24384000" cy="8413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384000" cy="841375"/>
            </a:xfrm>
            <a:custGeom>
              <a:avLst/>
              <a:gdLst/>
              <a:ahLst/>
              <a:cxnLst/>
              <a:rect l="l" t="t" r="r" b="b"/>
              <a:pathLst>
                <a:path w="24384000" h="841375">
                  <a:moveTo>
                    <a:pt x="0" y="0"/>
                  </a:moveTo>
                  <a:lnTo>
                    <a:pt x="24384000" y="0"/>
                  </a:lnTo>
                  <a:lnTo>
                    <a:pt x="24384000" y="841375"/>
                  </a:lnTo>
                  <a:lnTo>
                    <a:pt x="0" y="8413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4360431" y="694153"/>
            <a:ext cx="9567138" cy="454781"/>
            <a:chOff x="0" y="0"/>
            <a:chExt cx="2519740" cy="11977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519740" cy="119778"/>
            </a:xfrm>
            <a:custGeom>
              <a:avLst/>
              <a:gdLst/>
              <a:ahLst/>
              <a:cxnLst/>
              <a:rect l="l" t="t" r="r" b="b"/>
              <a:pathLst>
                <a:path w="2519740" h="119778">
                  <a:moveTo>
                    <a:pt x="0" y="0"/>
                  </a:moveTo>
                  <a:lnTo>
                    <a:pt x="2519740" y="0"/>
                  </a:lnTo>
                  <a:lnTo>
                    <a:pt x="2519740" y="119778"/>
                  </a:lnTo>
                  <a:lnTo>
                    <a:pt x="0" y="1197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2519740" cy="13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4370252" y="0"/>
            <a:ext cx="3917748" cy="1456352"/>
          </a:xfrm>
          <a:custGeom>
            <a:avLst/>
            <a:gdLst/>
            <a:ahLst/>
            <a:cxnLst/>
            <a:rect l="l" t="t" r="r" b="b"/>
            <a:pathLst>
              <a:path w="3917748" h="1456352">
                <a:moveTo>
                  <a:pt x="0" y="0"/>
                </a:moveTo>
                <a:lnTo>
                  <a:pt x="3917748" y="0"/>
                </a:lnTo>
                <a:lnTo>
                  <a:pt x="3917748" y="1456352"/>
                </a:lnTo>
                <a:lnTo>
                  <a:pt x="0" y="14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875" b="-4294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72925"/>
            <a:ext cx="3721571" cy="1383427"/>
          </a:xfrm>
          <a:custGeom>
            <a:avLst/>
            <a:gdLst/>
            <a:ahLst/>
            <a:cxnLst/>
            <a:rect l="l" t="t" r="r" b="b"/>
            <a:pathLst>
              <a:path w="3721571" h="1383427">
                <a:moveTo>
                  <a:pt x="0" y="0"/>
                </a:moveTo>
                <a:lnTo>
                  <a:pt x="3721571" y="0"/>
                </a:lnTo>
                <a:lnTo>
                  <a:pt x="3721571" y="1383427"/>
                </a:lnTo>
                <a:lnTo>
                  <a:pt x="0" y="1383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875" b="-42946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75612" y="174450"/>
            <a:ext cx="2227650" cy="864009"/>
            <a:chOff x="0" y="0"/>
            <a:chExt cx="2970200" cy="1152012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17735" y="87225"/>
            <a:ext cx="4912970" cy="1039406"/>
            <a:chOff x="0" y="0"/>
            <a:chExt cx="1293951" cy="2737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3951" cy="273753"/>
            </a:xfrm>
            <a:custGeom>
              <a:avLst/>
              <a:gdLst/>
              <a:ahLst/>
              <a:cxnLst/>
              <a:rect l="l" t="t" r="r" b="b"/>
              <a:pathLst>
                <a:path w="1293951" h="273753">
                  <a:moveTo>
                    <a:pt x="0" y="0"/>
                  </a:moveTo>
                  <a:lnTo>
                    <a:pt x="1293951" y="0"/>
                  </a:lnTo>
                  <a:lnTo>
                    <a:pt x="1293951" y="273753"/>
                  </a:lnTo>
                  <a:lnTo>
                    <a:pt x="0" y="2737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93951" cy="292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0"/>
            <a:ext cx="18128948" cy="10439400"/>
          </a:xfrm>
          <a:custGeom>
            <a:avLst/>
            <a:gdLst/>
            <a:ahLst/>
            <a:cxnLst/>
            <a:rect l="l" t="t" r="r" b="b"/>
            <a:pathLst>
              <a:path w="18128948" h="10439400">
                <a:moveTo>
                  <a:pt x="0" y="0"/>
                </a:moveTo>
                <a:lnTo>
                  <a:pt x="18128948" y="0"/>
                </a:lnTo>
                <a:lnTo>
                  <a:pt x="18128948" y="10439400"/>
                </a:lnTo>
                <a:lnTo>
                  <a:pt x="0" y="10439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2" r="-1072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9808369"/>
            <a:ext cx="18288000" cy="631031"/>
            <a:chOff x="0" y="0"/>
            <a:chExt cx="24384000" cy="8413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841375"/>
            </a:xfrm>
            <a:custGeom>
              <a:avLst/>
              <a:gdLst/>
              <a:ahLst/>
              <a:cxnLst/>
              <a:rect l="l" t="t" r="r" b="b"/>
              <a:pathLst>
                <a:path w="24384000" h="841375">
                  <a:moveTo>
                    <a:pt x="0" y="0"/>
                  </a:moveTo>
                  <a:lnTo>
                    <a:pt x="24384000" y="0"/>
                  </a:lnTo>
                  <a:lnTo>
                    <a:pt x="24384000" y="841375"/>
                  </a:lnTo>
                  <a:lnTo>
                    <a:pt x="0" y="8413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84116" y="174450"/>
            <a:ext cx="3173094" cy="1039406"/>
            <a:chOff x="0" y="0"/>
            <a:chExt cx="835712" cy="2737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5712" cy="273753"/>
            </a:xfrm>
            <a:custGeom>
              <a:avLst/>
              <a:gdLst/>
              <a:ahLst/>
              <a:cxnLst/>
              <a:rect l="l" t="t" r="r" b="b"/>
              <a:pathLst>
                <a:path w="835712" h="273753">
                  <a:moveTo>
                    <a:pt x="0" y="0"/>
                  </a:moveTo>
                  <a:lnTo>
                    <a:pt x="835712" y="0"/>
                  </a:lnTo>
                  <a:lnTo>
                    <a:pt x="835712" y="273753"/>
                  </a:lnTo>
                  <a:lnTo>
                    <a:pt x="0" y="2737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835712" cy="292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85801" y="72925"/>
            <a:ext cx="4243148" cy="1140931"/>
            <a:chOff x="0" y="0"/>
            <a:chExt cx="1117537" cy="3004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17537" cy="300492"/>
            </a:xfrm>
            <a:custGeom>
              <a:avLst/>
              <a:gdLst/>
              <a:ahLst/>
              <a:cxnLst/>
              <a:rect l="l" t="t" r="r" b="b"/>
              <a:pathLst>
                <a:path w="1117537" h="300492">
                  <a:moveTo>
                    <a:pt x="0" y="0"/>
                  </a:moveTo>
                  <a:lnTo>
                    <a:pt x="1117537" y="0"/>
                  </a:lnTo>
                  <a:lnTo>
                    <a:pt x="1117537" y="300492"/>
                  </a:lnTo>
                  <a:lnTo>
                    <a:pt x="0" y="3004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117537" cy="3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5612" y="210904"/>
            <a:ext cx="2227650" cy="864009"/>
            <a:chOff x="0" y="0"/>
            <a:chExt cx="2970200" cy="1152012"/>
          </a:xfrm>
        </p:grpSpPr>
        <p:sp>
          <p:nvSpPr>
            <p:cNvPr id="26" name="Freeform 26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240000" y="71960"/>
            <a:ext cx="2418340" cy="1141896"/>
            <a:chOff x="0" y="0"/>
            <a:chExt cx="3427654" cy="16184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4360431" y="694153"/>
            <a:ext cx="9567138" cy="454781"/>
            <a:chOff x="0" y="0"/>
            <a:chExt cx="2519740" cy="11977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19740" cy="119778"/>
            </a:xfrm>
            <a:custGeom>
              <a:avLst/>
              <a:gdLst/>
              <a:ahLst/>
              <a:cxnLst/>
              <a:rect l="l" t="t" r="r" b="b"/>
              <a:pathLst>
                <a:path w="2519740" h="119778">
                  <a:moveTo>
                    <a:pt x="0" y="0"/>
                  </a:moveTo>
                  <a:lnTo>
                    <a:pt x="2519740" y="0"/>
                  </a:lnTo>
                  <a:lnTo>
                    <a:pt x="2519740" y="119778"/>
                  </a:lnTo>
                  <a:lnTo>
                    <a:pt x="0" y="1197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2519740" cy="13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4711648" y="-39917"/>
            <a:ext cx="3576352" cy="1272622"/>
          </a:xfrm>
          <a:custGeom>
            <a:avLst/>
            <a:gdLst/>
            <a:ahLst/>
            <a:cxnLst/>
            <a:rect l="l" t="t" r="r" b="b"/>
            <a:pathLst>
              <a:path w="3576352" h="1272622">
                <a:moveTo>
                  <a:pt x="0" y="0"/>
                </a:moveTo>
                <a:lnTo>
                  <a:pt x="3576352" y="0"/>
                </a:lnTo>
                <a:lnTo>
                  <a:pt x="3576352" y="1272622"/>
                </a:lnTo>
                <a:lnTo>
                  <a:pt x="0" y="1272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352" b="-4709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-39917"/>
            <a:ext cx="3372789" cy="1253773"/>
          </a:xfrm>
          <a:custGeom>
            <a:avLst/>
            <a:gdLst/>
            <a:ahLst/>
            <a:cxnLst/>
            <a:rect l="l" t="t" r="r" b="b"/>
            <a:pathLst>
              <a:path w="3372789" h="1253773">
                <a:moveTo>
                  <a:pt x="0" y="0"/>
                </a:moveTo>
                <a:lnTo>
                  <a:pt x="3372789" y="0"/>
                </a:lnTo>
                <a:lnTo>
                  <a:pt x="3372789" y="1253773"/>
                </a:lnTo>
                <a:lnTo>
                  <a:pt x="0" y="1253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875" b="-42946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1" b="-111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9808369"/>
            <a:ext cx="18288000" cy="631031"/>
            <a:chOff x="0" y="0"/>
            <a:chExt cx="24384000" cy="8413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841375"/>
            </a:xfrm>
            <a:custGeom>
              <a:avLst/>
              <a:gdLst/>
              <a:ahLst/>
              <a:cxnLst/>
              <a:rect l="l" t="t" r="r" b="b"/>
              <a:pathLst>
                <a:path w="24384000" h="841375">
                  <a:moveTo>
                    <a:pt x="0" y="0"/>
                  </a:moveTo>
                  <a:lnTo>
                    <a:pt x="24384000" y="0"/>
                  </a:lnTo>
                  <a:lnTo>
                    <a:pt x="24384000" y="841375"/>
                  </a:lnTo>
                  <a:lnTo>
                    <a:pt x="0" y="8413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84116" y="174450"/>
            <a:ext cx="3173094" cy="1039406"/>
            <a:chOff x="0" y="0"/>
            <a:chExt cx="835712" cy="2737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5712" cy="273753"/>
            </a:xfrm>
            <a:custGeom>
              <a:avLst/>
              <a:gdLst/>
              <a:ahLst/>
              <a:cxnLst/>
              <a:rect l="l" t="t" r="r" b="b"/>
              <a:pathLst>
                <a:path w="835712" h="273753">
                  <a:moveTo>
                    <a:pt x="0" y="0"/>
                  </a:moveTo>
                  <a:lnTo>
                    <a:pt x="835712" y="0"/>
                  </a:lnTo>
                  <a:lnTo>
                    <a:pt x="835712" y="273753"/>
                  </a:lnTo>
                  <a:lnTo>
                    <a:pt x="0" y="2737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835712" cy="292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653453" y="0"/>
            <a:ext cx="4325762" cy="1213856"/>
            <a:chOff x="0" y="0"/>
            <a:chExt cx="1139295" cy="3196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9295" cy="319699"/>
            </a:xfrm>
            <a:custGeom>
              <a:avLst/>
              <a:gdLst/>
              <a:ahLst/>
              <a:cxnLst/>
              <a:rect l="l" t="t" r="r" b="b"/>
              <a:pathLst>
                <a:path w="1139295" h="319699">
                  <a:moveTo>
                    <a:pt x="0" y="0"/>
                  </a:moveTo>
                  <a:lnTo>
                    <a:pt x="1139295" y="0"/>
                  </a:lnTo>
                  <a:lnTo>
                    <a:pt x="1139295" y="319699"/>
                  </a:lnTo>
                  <a:lnTo>
                    <a:pt x="0" y="3196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139295" cy="338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5612" y="210904"/>
            <a:ext cx="2227650" cy="864009"/>
            <a:chOff x="0" y="0"/>
            <a:chExt cx="2970200" cy="1152012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670129" y="2248"/>
            <a:ext cx="2703471" cy="1276531"/>
            <a:chOff x="0" y="0"/>
            <a:chExt cx="3604628" cy="170204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04641" cy="1702054"/>
            </a:xfrm>
            <a:custGeom>
              <a:avLst/>
              <a:gdLst/>
              <a:ahLst/>
              <a:cxnLst/>
              <a:rect l="l" t="t" r="r" b="b"/>
              <a:pathLst>
                <a:path w="3604641" h="1702054">
                  <a:moveTo>
                    <a:pt x="0" y="0"/>
                  </a:moveTo>
                  <a:lnTo>
                    <a:pt x="3604641" y="0"/>
                  </a:lnTo>
                  <a:lnTo>
                    <a:pt x="3604641" y="1702054"/>
                  </a:lnTo>
                  <a:lnTo>
                    <a:pt x="0" y="1702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4360431" y="694153"/>
            <a:ext cx="9567138" cy="454781"/>
            <a:chOff x="0" y="0"/>
            <a:chExt cx="2519740" cy="1197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19740" cy="119778"/>
            </a:xfrm>
            <a:custGeom>
              <a:avLst/>
              <a:gdLst/>
              <a:ahLst/>
              <a:cxnLst/>
              <a:rect l="l" t="t" r="r" b="b"/>
              <a:pathLst>
                <a:path w="2519740" h="119778">
                  <a:moveTo>
                    <a:pt x="0" y="0"/>
                  </a:moveTo>
                  <a:lnTo>
                    <a:pt x="2519740" y="0"/>
                  </a:lnTo>
                  <a:lnTo>
                    <a:pt x="2519740" y="119778"/>
                  </a:lnTo>
                  <a:lnTo>
                    <a:pt x="0" y="1197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519740" cy="138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622483"/>
            <a:ext cx="18288000" cy="664517"/>
            <a:chOff x="0" y="0"/>
            <a:chExt cx="24384000" cy="273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383457"/>
            <a:ext cx="16459200" cy="383457"/>
            <a:chOff x="0" y="0"/>
            <a:chExt cx="21945600" cy="5112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11278"/>
            </a:xfrm>
            <a:custGeom>
              <a:avLst/>
              <a:gdLst/>
              <a:ahLst/>
              <a:cxnLst/>
              <a:rect l="l" t="t" r="r" b="b"/>
              <a:pathLst>
                <a:path w="21945600" h="511278">
                  <a:moveTo>
                    <a:pt x="0" y="0"/>
                  </a:moveTo>
                  <a:lnTo>
                    <a:pt x="21945600" y="0"/>
                  </a:lnTo>
                  <a:lnTo>
                    <a:pt x="21945600" y="511278"/>
                  </a:lnTo>
                  <a:lnTo>
                    <a:pt x="0" y="511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356" b="-7863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945600" cy="530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174450"/>
            <a:ext cx="2227650" cy="864013"/>
            <a:chOff x="0" y="0"/>
            <a:chExt cx="2970200" cy="1152017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970149" cy="1152017"/>
            </a:xfrm>
            <a:custGeom>
              <a:avLst/>
              <a:gdLst/>
              <a:ahLst/>
              <a:cxnLst/>
              <a:rect l="l" t="t" r="r" b="b"/>
              <a:pathLst>
                <a:path w="2970149" h="1152017">
                  <a:moveTo>
                    <a:pt x="0" y="575945"/>
                  </a:moveTo>
                  <a:cubicBezTo>
                    <a:pt x="0" y="257937"/>
                    <a:pt x="664845" y="0"/>
                    <a:pt x="1485138" y="0"/>
                  </a:cubicBezTo>
                  <a:cubicBezTo>
                    <a:pt x="2305431" y="0"/>
                    <a:pt x="2970149" y="257937"/>
                    <a:pt x="2970149" y="575945"/>
                  </a:cubicBezTo>
                  <a:cubicBezTo>
                    <a:pt x="2970149" y="893953"/>
                    <a:pt x="2305304" y="1152017"/>
                    <a:pt x="1485138" y="1152017"/>
                  </a:cubicBezTo>
                  <a:cubicBezTo>
                    <a:pt x="664972" y="1152017"/>
                    <a:pt x="0" y="894080"/>
                    <a:pt x="0" y="57594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970200" cy="1209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2703471" cy="1276531"/>
            <a:chOff x="0" y="0"/>
            <a:chExt cx="3604628" cy="17020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04641" cy="1702054"/>
            </a:xfrm>
            <a:custGeom>
              <a:avLst/>
              <a:gdLst/>
              <a:ahLst/>
              <a:cxnLst/>
              <a:rect l="l" t="t" r="r" b="b"/>
              <a:pathLst>
                <a:path w="3604641" h="1702054">
                  <a:moveTo>
                    <a:pt x="0" y="0"/>
                  </a:moveTo>
                  <a:lnTo>
                    <a:pt x="3604641" y="0"/>
                  </a:lnTo>
                  <a:lnTo>
                    <a:pt x="3604641" y="1702054"/>
                  </a:lnTo>
                  <a:lnTo>
                    <a:pt x="0" y="1702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2209800" y="1449453"/>
            <a:ext cx="14799545" cy="8426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74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1) Industry Skill Gaps &amp; Future Demand</a:t>
            </a:r>
          </a:p>
          <a:p>
            <a:pPr marL="593383" lvl="1" indent="-296691" algn="l">
              <a:lnSpc>
                <a:spcPts val="3298"/>
              </a:lnSpc>
              <a:buFont typeface="Arial"/>
              <a:buChar char="•"/>
            </a:pPr>
            <a:r>
              <a:rPr lang="en-US" sz="274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5" tooltip="https://www.weforum.org/publications/the-future-of-jobs-report-2025/digest/?utm"/>
              </a:rPr>
              <a:t>Future of Jobs Report 2025 – World Economic Forum</a:t>
            </a:r>
          </a:p>
          <a:p>
            <a:pPr marL="593383" lvl="1" indent="-296691" algn="l">
              <a:lnSpc>
                <a:spcPts val="3298"/>
              </a:lnSpc>
              <a:buFont typeface="Arial"/>
              <a:buChar char="•"/>
            </a:pPr>
            <a:r>
              <a:rPr lang="en-US" sz="274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www3.weforum.org/docs/WEF_Future_of_Jobs_Report_2025.pdf?utm"/>
              </a:rPr>
              <a:t>Skills Gaps as a Barrier to Business Transformation – WEF</a:t>
            </a:r>
          </a:p>
          <a:p>
            <a:pPr algn="l">
              <a:lnSpc>
                <a:spcPts val="3298"/>
              </a:lnSpc>
            </a:pPr>
            <a:endParaRPr lang="en-US" sz="2748" b="1" u="sng" dirty="0">
              <a:solidFill>
                <a:srgbClr val="004AAD"/>
              </a:solidFill>
              <a:latin typeface="Arimo Bold"/>
              <a:ea typeface="Arimo Bold"/>
              <a:cs typeface="Arimo Bold"/>
              <a:sym typeface="Arimo Bold"/>
              <a:hlinkClick r:id="rId6" tooltip="https://www3.weforum.org/docs/WEF_Future_of_Jobs_Report_2025.pdf?utm"/>
            </a:endParaRPr>
          </a:p>
          <a:p>
            <a:pPr algn="l">
              <a:lnSpc>
                <a:spcPts val="3070"/>
              </a:lnSpc>
            </a:pPr>
            <a:r>
              <a:rPr lang="en-US" sz="255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2) India: Youth Employment &amp; Skills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www.ilo.org/publications/india-employment-report-2024-youth-employment-education-and-skills?utm"/>
              </a:rPr>
              <a:t>India Employment Report 2024 – ILO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researchrepository.ilo.org/esploro/outputs/report/India-employment-report-2024-youth-employment/995360092402676?utm"/>
              </a:rPr>
              <a:t>India Employment Report 2024 – Full Research Repository</a:t>
            </a:r>
          </a:p>
          <a:p>
            <a:pPr algn="l">
              <a:lnSpc>
                <a:spcPts val="3070"/>
              </a:lnSpc>
            </a:pPr>
            <a:endParaRPr lang="en-US" sz="2558" b="1" u="sng" dirty="0">
              <a:solidFill>
                <a:srgbClr val="004AAD"/>
              </a:solidFill>
              <a:latin typeface="Arimo Bold"/>
              <a:ea typeface="Arimo Bold"/>
              <a:cs typeface="Arimo Bold"/>
              <a:sym typeface="Arimo Bold"/>
              <a:hlinkClick r:id="rId8" tooltip="https://researchrepository.ilo.org/esploro/outputs/report/India-employment-report-2024-youth-employment/995360092402676?utm"/>
            </a:endParaRPr>
          </a:p>
          <a:p>
            <a:pPr algn="l">
              <a:lnSpc>
                <a:spcPts val="3070"/>
              </a:lnSpc>
            </a:pPr>
            <a:r>
              <a:rPr lang="en-US" sz="255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3) Skills Mismatch &amp; Demand–Supply Gap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www.oecd.org/en/publications/getting-skills-right-skills-for-jobs-indicators_9789264277878-en.html?utm"/>
              </a:rPr>
              <a:t>Getting Skills Right: Skills for Jobs Indicators – OECD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0" tooltip="https://www.oecd.org/en/publications/getting-skills-right-assessing-and-anticipating-changing-skill-needs_9789264252073-en.html?utm"/>
              </a:rPr>
              <a:t>Assessing &amp; Anticipating Changing Skill Needs – OECD</a:t>
            </a:r>
          </a:p>
          <a:p>
            <a:pPr algn="l">
              <a:lnSpc>
                <a:spcPts val="3070"/>
              </a:lnSpc>
            </a:pPr>
            <a:endParaRPr lang="en-US" sz="2558" b="1" u="sng" dirty="0">
              <a:solidFill>
                <a:srgbClr val="004AAD"/>
              </a:solidFill>
              <a:latin typeface="Arimo Bold"/>
              <a:ea typeface="Arimo Bold"/>
              <a:cs typeface="Arimo Bold"/>
              <a:sym typeface="Arimo Bold"/>
              <a:hlinkClick r:id="rId10" tooltip="https://www.oecd.org/en/publications/getting-skills-right-assessing-and-anticipating-changing-skill-needs_9789264252073-en.html?utm"/>
            </a:endParaRPr>
          </a:p>
          <a:p>
            <a:pPr algn="l">
              <a:lnSpc>
                <a:spcPts val="3070"/>
              </a:lnSpc>
            </a:pPr>
            <a:r>
              <a:rPr lang="en-US" sz="255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4) Skills-First &amp; Evidence-Based Talent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1" tooltip="https://www.oecd.org/en/publications/a-skills-first-labour-market_2e1b85f0-en/full-report/positioning-skills-as-the-new-currency-of-work_40815b16.html?utm"/>
              </a:rPr>
              <a:t>A Skills-First </a:t>
            </a:r>
            <a:r>
              <a:rPr lang="en-US" sz="2558" b="1" u="sng" dirty="0" err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1" tooltip="https://www.oecd.org/en/publications/a-skills-first-labour-market_2e1b85f0-en/full-report/positioning-skills-as-the-new-currency-of-work_40815b16.html?utm"/>
              </a:rPr>
              <a:t>Labour</a:t>
            </a: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1" tooltip="https://www.oecd.org/en/publications/a-skills-first-labour-market_2e1b85f0-en/full-report/positioning-skills-as-the-new-currency-of-work_40815b16.html?utm"/>
              </a:rPr>
              <a:t> Market – OECD, 2026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2" tooltip="https://www.oecd.org/en/publications/understanding-skill-gaps-in-firms_b388d1da-en.html?utm"/>
              </a:rPr>
              <a:t>Understanding Skill Gaps in Firms – OECD</a:t>
            </a:r>
          </a:p>
          <a:p>
            <a:pPr algn="l">
              <a:lnSpc>
                <a:spcPts val="3070"/>
              </a:lnSpc>
            </a:pPr>
            <a:endParaRPr lang="en-US" sz="2558" b="1" u="sng" dirty="0">
              <a:solidFill>
                <a:srgbClr val="004AAD"/>
              </a:solidFill>
              <a:latin typeface="Arimo Bold"/>
              <a:ea typeface="Arimo Bold"/>
              <a:cs typeface="Arimo Bold"/>
              <a:sym typeface="Arimo Bold"/>
              <a:hlinkClick r:id="rId12" tooltip="https://www.oecd.org/en/publications/understanding-skill-gaps-in-firms_b388d1da-en.html?utm"/>
            </a:endParaRPr>
          </a:p>
          <a:p>
            <a:pPr algn="l">
              <a:lnSpc>
                <a:spcPts val="3070"/>
              </a:lnSpc>
            </a:pPr>
            <a:r>
              <a:rPr lang="en-US" sz="2558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5) AI &amp; Higher Education Transformation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3" tooltip="https://www.unesco.org/en/node/217106?utm"/>
              </a:rPr>
              <a:t>AI for Skills Development in Higher Education – UNESCO</a:t>
            </a:r>
          </a:p>
          <a:p>
            <a:pPr marL="552461" lvl="1" indent="-276230" algn="l">
              <a:lnSpc>
                <a:spcPts val="3070"/>
              </a:lnSpc>
              <a:buFont typeface="Arial"/>
              <a:buChar char="•"/>
            </a:pPr>
            <a:r>
              <a:rPr lang="en-US" sz="2558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14" tooltip="https://www.unesco.org/en/digital-education?hub=66813&amp;utm"/>
              </a:rPr>
              <a:t>AI and Technologies in Education – UNESCO</a:t>
            </a:r>
          </a:p>
          <a:p>
            <a:pPr algn="l">
              <a:lnSpc>
                <a:spcPts val="3070"/>
              </a:lnSpc>
            </a:pPr>
            <a:endParaRPr lang="en-US" sz="2558" b="1" u="sng" dirty="0">
              <a:solidFill>
                <a:srgbClr val="004AAD"/>
              </a:solidFill>
              <a:latin typeface="Arimo Bold"/>
              <a:ea typeface="Arimo Bold"/>
              <a:cs typeface="Arimo Bold"/>
              <a:sym typeface="Arimo Bold"/>
              <a:hlinkClick r:id="rId14" tooltip="https://www.unesco.org/en/digital-education?hub=66813&amp;utm"/>
            </a:endParaRPr>
          </a:p>
          <a:p>
            <a:pPr algn="l">
              <a:lnSpc>
                <a:spcPts val="3070"/>
              </a:lnSpc>
            </a:pPr>
            <a:endParaRPr lang="en-US" sz="2558" b="1" u="sng" dirty="0">
              <a:solidFill>
                <a:srgbClr val="004AAD"/>
              </a:solidFill>
              <a:latin typeface="Arimo Bold"/>
              <a:ea typeface="Arimo Bold"/>
              <a:cs typeface="Arimo Bold"/>
              <a:sym typeface="Arimo Bold"/>
              <a:hlinkClick r:id="rId14" tooltip="https://www.unesco.org/en/digital-education?hub=66813&amp;utm"/>
            </a:endParaRPr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AA8AFAD1-29CF-F396-086D-7BDDB052B4FC}"/>
              </a:ext>
            </a:extLst>
          </p:cNvPr>
          <p:cNvGrpSpPr/>
          <p:nvPr/>
        </p:nvGrpSpPr>
        <p:grpSpPr>
          <a:xfrm>
            <a:off x="14748" y="9622483"/>
            <a:ext cx="18288000" cy="664517"/>
            <a:chOff x="0" y="0"/>
            <a:chExt cx="24384000" cy="273050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B00C0E8A-272C-5FB8-B6B8-D14687D4BE48}"/>
                </a:ext>
              </a:extLst>
            </p:cNvPr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</Words>
  <Application>Microsoft Office PowerPoint</Application>
  <PresentationFormat>Custom</PresentationFormat>
  <Paragraphs>63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Arimo</vt:lpstr>
      <vt:lpstr>Calibri</vt:lpstr>
      <vt:lpstr>Arial Bold</vt:lpstr>
      <vt:lpstr>Calibri (MS)</vt:lpstr>
      <vt:lpstr>Times New Roman Bold</vt:lpstr>
      <vt:lpstr>Arimo Bold</vt:lpstr>
      <vt:lpstr>Garamond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Team_Strike_Out-SIH2026PPT</dc:title>
  <cp:lastModifiedBy>YASHWANTHI B K</cp:lastModifiedBy>
  <cp:revision>2</cp:revision>
  <dcterms:created xsi:type="dcterms:W3CDTF">2006-08-16T00:00:00Z</dcterms:created>
  <dcterms:modified xsi:type="dcterms:W3CDTF">2026-09-13T13:19:15Z</dcterms:modified>
  <dc:identifier>DAHTwneAWuA</dc:identifier>
</cp:coreProperties>
</file>