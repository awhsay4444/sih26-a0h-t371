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0FB7C-6A35-4E3B-8E0E-79E0574DF7F6}" v="5" dt="2026-08-30T17:23:50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darini Mahendran" userId="0d663cad9d5275b3" providerId="LiveId" clId="{AC425EF7-F75F-4A1A-B8C9-2B67AEABBD2A}"/>
    <pc:docChg chg="undo custSel modSld">
      <pc:chgData name="Bhavadarini Mahendran" userId="0d663cad9d5275b3" providerId="LiveId" clId="{AC425EF7-F75F-4A1A-B8C9-2B67AEABBD2A}" dt="2026-08-30T17:24:48.250" v="214" actId="14100"/>
      <pc:docMkLst>
        <pc:docMk/>
      </pc:docMkLst>
      <pc:sldChg chg="addSp delSp modSp mod">
        <pc:chgData name="Bhavadarini Mahendran" userId="0d663cad9d5275b3" providerId="LiveId" clId="{AC425EF7-F75F-4A1A-B8C9-2B67AEABBD2A}" dt="2026-08-30T17:24:48.250" v="214" actId="14100"/>
        <pc:sldMkLst>
          <pc:docMk/>
          <pc:sldMk cId="0" sldId="261"/>
        </pc:sldMkLst>
        <pc:spChg chg="mod">
          <ac:chgData name="Bhavadarini Mahendran" userId="0d663cad9d5275b3" providerId="LiveId" clId="{AC425EF7-F75F-4A1A-B8C9-2B67AEABBD2A}" dt="2026-08-30T17:01:18.716" v="43" actId="5793"/>
          <ac:spMkLst>
            <pc:docMk/>
            <pc:sldMk cId="0" sldId="261"/>
            <ac:spMk id="18" creationId="{00000000-0000-0000-0000-000000000000}"/>
          </ac:spMkLst>
        </pc:spChg>
        <pc:spChg chg="add mod">
          <ac:chgData name="Bhavadarini Mahendran" userId="0d663cad9d5275b3" providerId="LiveId" clId="{AC425EF7-F75F-4A1A-B8C9-2B67AEABBD2A}" dt="2026-08-30T17:24:33.449" v="213" actId="1076"/>
          <ac:spMkLst>
            <pc:docMk/>
            <pc:sldMk cId="0" sldId="261"/>
            <ac:spMk id="19" creationId="{9EE20588-ED9B-A2B7-334F-3B871311AE92}"/>
          </ac:spMkLst>
        </pc:spChg>
        <pc:spChg chg="add mod">
          <ac:chgData name="Bhavadarini Mahendran" userId="0d663cad9d5275b3" providerId="LiveId" clId="{AC425EF7-F75F-4A1A-B8C9-2B67AEABBD2A}" dt="2026-08-30T17:23:54.682" v="211" actId="20577"/>
          <ac:spMkLst>
            <pc:docMk/>
            <pc:sldMk cId="0" sldId="261"/>
            <ac:spMk id="20" creationId="{AFDFE390-277B-EFB2-74C1-C663D257E528}"/>
          </ac:spMkLst>
        </pc:spChg>
        <pc:spChg chg="add mod">
          <ac:chgData name="Bhavadarini Mahendran" userId="0d663cad9d5275b3" providerId="LiveId" clId="{AC425EF7-F75F-4A1A-B8C9-2B67AEABBD2A}" dt="2026-08-30T17:24:48.250" v="214" actId="14100"/>
          <ac:spMkLst>
            <pc:docMk/>
            <pc:sldMk cId="0" sldId="261"/>
            <ac:spMk id="31" creationId="{AFB4646D-AAC6-CF32-37CA-BBB72BE447F6}"/>
          </ac:spMkLst>
        </pc:spChg>
        <pc:picChg chg="add del mod">
          <ac:chgData name="Bhavadarini Mahendran" userId="0d663cad9d5275b3" providerId="LiveId" clId="{AC425EF7-F75F-4A1A-B8C9-2B67AEABBD2A}" dt="2026-08-30T17:11:19.393" v="95" actId="478"/>
          <ac:picMkLst>
            <pc:docMk/>
            <pc:sldMk cId="0" sldId="261"/>
            <ac:picMk id="22" creationId="{6CC6B675-DDA3-1576-4524-51565218D38F}"/>
          </ac:picMkLst>
        </pc:picChg>
        <pc:picChg chg="add del mod modCrop">
          <ac:chgData name="Bhavadarini Mahendran" userId="0d663cad9d5275b3" providerId="LiveId" clId="{AC425EF7-F75F-4A1A-B8C9-2B67AEABBD2A}" dt="2026-08-30T17:20:22.617" v="193" actId="478"/>
          <ac:picMkLst>
            <pc:docMk/>
            <pc:sldMk cId="0" sldId="261"/>
            <ac:picMk id="24" creationId="{5FC519C6-2A8A-AADF-A8CD-5CE6E580E8B6}"/>
          </ac:picMkLst>
        </pc:picChg>
        <pc:picChg chg="add mod modCrop">
          <ac:chgData name="Bhavadarini Mahendran" userId="0d663cad9d5275b3" providerId="LiveId" clId="{AC425EF7-F75F-4A1A-B8C9-2B67AEABBD2A}" dt="2026-08-30T17:18:46.036" v="180" actId="18131"/>
          <ac:picMkLst>
            <pc:docMk/>
            <pc:sldMk cId="0" sldId="261"/>
            <ac:picMk id="26" creationId="{0D8CB1FF-1935-3089-BFD9-3907341BDAAF}"/>
          </ac:picMkLst>
        </pc:picChg>
        <pc:picChg chg="add del mod modCrop">
          <ac:chgData name="Bhavadarini Mahendran" userId="0d663cad9d5275b3" providerId="LiveId" clId="{AC425EF7-F75F-4A1A-B8C9-2B67AEABBD2A}" dt="2026-08-30T17:20:26.367" v="194" actId="478"/>
          <ac:picMkLst>
            <pc:docMk/>
            <pc:sldMk cId="0" sldId="261"/>
            <ac:picMk id="28" creationId="{7ED3A133-2E33-179F-582D-379183F33207}"/>
          </ac:picMkLst>
        </pc:picChg>
        <pc:picChg chg="add mod modCrop">
          <ac:chgData name="Bhavadarini Mahendran" userId="0d663cad9d5275b3" providerId="LiveId" clId="{AC425EF7-F75F-4A1A-B8C9-2B67AEABBD2A}" dt="2026-08-30T17:21:54.073" v="207" actId="1076"/>
          <ac:picMkLst>
            <pc:docMk/>
            <pc:sldMk cId="0" sldId="261"/>
            <ac:picMk id="30" creationId="{DC1069B6-43CF-FA25-D673-4AE43BA1EE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pubs.icar.org.in/index.php/IJEE/article/view/178205?utm_source=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epubs.icar.org.in/index.php/IJEE/article/view/139735?utm_source=" TargetMode="External"/><Relationship Id="rId12" Type="http://schemas.openxmlformats.org/officeDocument/2006/relationships/hyperlink" Target="https://fasalniti-ai.web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43621-025-01412-5?utm_source=" TargetMode="External"/><Relationship Id="rId11" Type="http://schemas.openxmlformats.org/officeDocument/2006/relationships/image" Target="../media/image11.png"/><Relationship Id="rId5" Type="http://schemas.openxmlformats.org/officeDocument/2006/relationships/hyperlink" Target="https://agmarknet.gov.in/home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hyperlink" Target="https://www.mofpi.gov.in/en/announcements/request-proposal-rfp-%E2%80%9Cstudy-determine-post-harvest-losses-agri-produce-india%E2%80%9D?utm_source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96929" y="-804425"/>
            <a:ext cx="15544800" cy="3128963"/>
            <a:chOff x="0" y="-19050"/>
            <a:chExt cx="20726400" cy="4171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3034716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1000" y="1734523"/>
            <a:ext cx="9693964" cy="727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6"/>
              </a:lnSpc>
            </a:pPr>
            <a:endParaRPr dirty="0"/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-  SIH26132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Strengthening market linkages and price discovery for farmers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Agriculture, </a:t>
            </a:r>
            <a:r>
              <a:rPr lang="en-US" sz="29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FoodTech</a:t>
            </a: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&amp; Rural Development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SIH26-A0H-T371</a:t>
            </a:r>
          </a:p>
          <a:p>
            <a:pPr marL="524831" lvl="1" indent="-262415" algn="just">
              <a:lnSpc>
                <a:spcPts val="696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Strike Out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2570740" cy="1213856"/>
            <a:chOff x="0" y="0"/>
            <a:chExt cx="3427654" cy="1618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665318" y="0"/>
            <a:ext cx="3622682" cy="1222949"/>
          </a:xfrm>
          <a:custGeom>
            <a:avLst/>
            <a:gdLst/>
            <a:ahLst/>
            <a:cxnLst/>
            <a:rect l="l" t="t" r="r" b="b"/>
            <a:pathLst>
              <a:path w="3622682" h="1222949">
                <a:moveTo>
                  <a:pt x="0" y="0"/>
                </a:moveTo>
                <a:lnTo>
                  <a:pt x="3622682" y="0"/>
                </a:lnTo>
                <a:lnTo>
                  <a:pt x="3622682" y="1222949"/>
                </a:lnTo>
                <a:lnTo>
                  <a:pt x="0" y="1222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05" t="-19328" b="-112424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0"/>
            <a:ext cx="3357210" cy="1222949"/>
          </a:xfrm>
          <a:custGeom>
            <a:avLst/>
            <a:gdLst/>
            <a:ahLst/>
            <a:cxnLst/>
            <a:rect l="l" t="t" r="r" b="b"/>
            <a:pathLst>
              <a:path w="3357210" h="1222949">
                <a:moveTo>
                  <a:pt x="0" y="0"/>
                </a:moveTo>
                <a:lnTo>
                  <a:pt x="3357210" y="0"/>
                </a:lnTo>
                <a:lnTo>
                  <a:pt x="3357210" y="1222949"/>
                </a:lnTo>
                <a:lnTo>
                  <a:pt x="0" y="1222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47" b="-72171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10082212"/>
            <a:ext cx="18288000" cy="204788"/>
            <a:chOff x="0" y="0"/>
            <a:chExt cx="24384000" cy="273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39917"/>
            <a:ext cx="18288000" cy="9848286"/>
          </a:xfrm>
          <a:custGeom>
            <a:avLst/>
            <a:gdLst/>
            <a:ahLst/>
            <a:cxnLst/>
            <a:rect l="l" t="t" r="r" b="b"/>
            <a:pathLst>
              <a:path w="18288000" h="9848286">
                <a:moveTo>
                  <a:pt x="0" y="0"/>
                </a:moveTo>
                <a:lnTo>
                  <a:pt x="18288000" y="0"/>
                </a:lnTo>
                <a:lnTo>
                  <a:pt x="18288000" y="9848286"/>
                </a:lnTo>
                <a:lnTo>
                  <a:pt x="0" y="9848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454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9" name="Group 9"/>
          <p:cNvGrpSpPr/>
          <p:nvPr/>
        </p:nvGrpSpPr>
        <p:grpSpPr>
          <a:xfrm>
            <a:off x="0" y="10082213"/>
            <a:ext cx="18288000" cy="204788"/>
            <a:chOff x="0" y="0"/>
            <a:chExt cx="24384000" cy="273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4566429" y="-39917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5" b="-4294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0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5" b="-42946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82212"/>
            <a:ext cx="18288000" cy="204788"/>
            <a:chOff x="0" y="0"/>
            <a:chExt cx="24384000" cy="27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3617" y="0"/>
            <a:ext cx="18264383" cy="9938829"/>
          </a:xfrm>
          <a:custGeom>
            <a:avLst/>
            <a:gdLst/>
            <a:ahLst/>
            <a:cxnLst/>
            <a:rect l="l" t="t" r="r" b="b"/>
            <a:pathLst>
              <a:path w="18264383" h="9938829">
                <a:moveTo>
                  <a:pt x="0" y="0"/>
                </a:moveTo>
                <a:lnTo>
                  <a:pt x="18264383" y="0"/>
                </a:lnTo>
                <a:lnTo>
                  <a:pt x="18264383" y="9938829"/>
                </a:lnTo>
                <a:lnTo>
                  <a:pt x="0" y="9938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9" b="-3503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2400" y="10234613"/>
            <a:ext cx="18288000" cy="204788"/>
            <a:chOff x="0" y="0"/>
            <a:chExt cx="24384000" cy="273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4370252" y="0"/>
            <a:ext cx="3917748" cy="1456352"/>
          </a:xfrm>
          <a:custGeom>
            <a:avLst/>
            <a:gdLst/>
            <a:ahLst/>
            <a:cxnLst/>
            <a:rect l="l" t="t" r="r" b="b"/>
            <a:pathLst>
              <a:path w="3917748" h="1456352">
                <a:moveTo>
                  <a:pt x="0" y="0"/>
                </a:moveTo>
                <a:lnTo>
                  <a:pt x="3917748" y="0"/>
                </a:lnTo>
                <a:lnTo>
                  <a:pt x="3917748" y="1456352"/>
                </a:lnTo>
                <a:lnTo>
                  <a:pt x="0" y="1456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5" b="-4294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72925"/>
            <a:ext cx="3721571" cy="1383427"/>
          </a:xfrm>
          <a:custGeom>
            <a:avLst/>
            <a:gdLst/>
            <a:ahLst/>
            <a:cxnLst/>
            <a:rect l="l" t="t" r="r" b="b"/>
            <a:pathLst>
              <a:path w="3721571" h="1383427">
                <a:moveTo>
                  <a:pt x="0" y="0"/>
                </a:moveTo>
                <a:lnTo>
                  <a:pt x="3721571" y="0"/>
                </a:lnTo>
                <a:lnTo>
                  <a:pt x="3721571" y="1383427"/>
                </a:lnTo>
                <a:lnTo>
                  <a:pt x="0" y="1383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5" b="-42946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79819"/>
            <a:ext cx="18288000" cy="459581"/>
            <a:chOff x="0" y="0"/>
            <a:chExt cx="24384000" cy="6127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12775"/>
            </a:xfrm>
            <a:custGeom>
              <a:avLst/>
              <a:gdLst/>
              <a:ahLst/>
              <a:cxnLst/>
              <a:rect l="l" t="t" r="r" b="b"/>
              <a:pathLst>
                <a:path w="24384000" h="612775">
                  <a:moveTo>
                    <a:pt x="0" y="0"/>
                  </a:moveTo>
                  <a:lnTo>
                    <a:pt x="24384000" y="0"/>
                  </a:lnTo>
                  <a:lnTo>
                    <a:pt x="24384000" y="612775"/>
                  </a:lnTo>
                  <a:lnTo>
                    <a:pt x="0" y="6127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0"/>
            <a:ext cx="18288000" cy="9953354"/>
          </a:xfrm>
          <a:custGeom>
            <a:avLst/>
            <a:gdLst/>
            <a:ahLst/>
            <a:cxnLst/>
            <a:rect l="l" t="t" r="r" b="b"/>
            <a:pathLst>
              <a:path w="18288000" h="9953354">
                <a:moveTo>
                  <a:pt x="0" y="0"/>
                </a:moveTo>
                <a:lnTo>
                  <a:pt x="18288000" y="0"/>
                </a:lnTo>
                <a:lnTo>
                  <a:pt x="18288000" y="9953354"/>
                </a:lnTo>
                <a:lnTo>
                  <a:pt x="0" y="995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35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2400" y="10234612"/>
            <a:ext cx="18288000" cy="204788"/>
            <a:chOff x="0" y="0"/>
            <a:chExt cx="24384000" cy="273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4711648" y="-39917"/>
            <a:ext cx="3576352" cy="1272622"/>
          </a:xfrm>
          <a:custGeom>
            <a:avLst/>
            <a:gdLst/>
            <a:ahLst/>
            <a:cxnLst/>
            <a:rect l="l" t="t" r="r" b="b"/>
            <a:pathLst>
              <a:path w="3576352" h="1272622">
                <a:moveTo>
                  <a:pt x="0" y="0"/>
                </a:moveTo>
                <a:lnTo>
                  <a:pt x="3576352" y="0"/>
                </a:lnTo>
                <a:lnTo>
                  <a:pt x="3576352" y="1272622"/>
                </a:lnTo>
                <a:lnTo>
                  <a:pt x="0" y="1272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352" b="-4709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-39917"/>
            <a:ext cx="3372789" cy="1253773"/>
          </a:xfrm>
          <a:custGeom>
            <a:avLst/>
            <a:gdLst/>
            <a:ahLst/>
            <a:cxnLst/>
            <a:rect l="l" t="t" r="r" b="b"/>
            <a:pathLst>
              <a:path w="3372789" h="1253773">
                <a:moveTo>
                  <a:pt x="0" y="0"/>
                </a:moveTo>
                <a:lnTo>
                  <a:pt x="3372789" y="0"/>
                </a:lnTo>
                <a:lnTo>
                  <a:pt x="3372789" y="1253773"/>
                </a:lnTo>
                <a:lnTo>
                  <a:pt x="0" y="1253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875" b="-42946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4930790" y="0"/>
            <a:ext cx="2570740" cy="1213856"/>
            <a:chOff x="0" y="0"/>
            <a:chExt cx="3427654" cy="16184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27603" cy="1618488"/>
            </a:xfrm>
            <a:custGeom>
              <a:avLst/>
              <a:gdLst/>
              <a:ahLst/>
              <a:cxnLst/>
              <a:rect l="l" t="t" r="r" b="b"/>
              <a:pathLst>
                <a:path w="3427603" h="1618488">
                  <a:moveTo>
                    <a:pt x="0" y="0"/>
                  </a:moveTo>
                  <a:lnTo>
                    <a:pt x="3427603" y="0"/>
                  </a:lnTo>
                  <a:lnTo>
                    <a:pt x="3427603" y="1618488"/>
                  </a:lnTo>
                  <a:lnTo>
                    <a:pt x="0" y="161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475612" y="174450"/>
            <a:ext cx="2227650" cy="864009"/>
            <a:chOff x="0" y="0"/>
            <a:chExt cx="2970200" cy="1152012"/>
          </a:xfrm>
        </p:grpSpPr>
        <p:sp>
          <p:nvSpPr>
            <p:cNvPr id="18" name="Freeform 18" descr="Your startup LOGO"/>
            <p:cNvSpPr/>
            <p:nvPr/>
          </p:nvSpPr>
          <p:spPr>
            <a:xfrm>
              <a:off x="0" y="0"/>
              <a:ext cx="2970149" cy="1152012"/>
            </a:xfrm>
            <a:custGeom>
              <a:avLst/>
              <a:gdLst/>
              <a:ahLst/>
              <a:cxnLst/>
              <a:rect l="l" t="t" r="r" b="b"/>
              <a:pathLst>
                <a:path w="2970149" h="1152012">
                  <a:moveTo>
                    <a:pt x="0" y="575942"/>
                  </a:moveTo>
                  <a:cubicBezTo>
                    <a:pt x="0" y="257936"/>
                    <a:pt x="664845" y="0"/>
                    <a:pt x="1485138" y="0"/>
                  </a:cubicBezTo>
                  <a:cubicBezTo>
                    <a:pt x="2305431" y="0"/>
                    <a:pt x="2970149" y="257936"/>
                    <a:pt x="2970149" y="575942"/>
                  </a:cubicBezTo>
                  <a:cubicBezTo>
                    <a:pt x="2970149" y="893949"/>
                    <a:pt x="2305304" y="1152012"/>
                    <a:pt x="1485138" y="1152012"/>
                  </a:cubicBezTo>
                  <a:cubicBezTo>
                    <a:pt x="664972" y="1152012"/>
                    <a:pt x="0" y="894076"/>
                    <a:pt x="0" y="57594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970200" cy="1209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82212"/>
            <a:ext cx="18288000" cy="204788"/>
            <a:chOff x="0" y="0"/>
            <a:chExt cx="24384000" cy="273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73050"/>
            </a:xfrm>
            <a:custGeom>
              <a:avLst/>
              <a:gdLst/>
              <a:ahLst/>
              <a:cxnLst/>
              <a:rect l="l" t="t" r="r" b="b"/>
              <a:pathLst>
                <a:path w="24384000" h="273050">
                  <a:moveTo>
                    <a:pt x="0" y="0"/>
                  </a:moveTo>
                  <a:lnTo>
                    <a:pt x="24384000" y="0"/>
                  </a:lnTo>
                  <a:lnTo>
                    <a:pt x="24384000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383457"/>
            <a:ext cx="16459200" cy="383457"/>
            <a:chOff x="0" y="0"/>
            <a:chExt cx="21945600" cy="5112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11278"/>
            </a:xfrm>
            <a:custGeom>
              <a:avLst/>
              <a:gdLst/>
              <a:ahLst/>
              <a:cxnLst/>
              <a:rect l="l" t="t" r="r" b="b"/>
              <a:pathLst>
                <a:path w="21945600" h="511278">
                  <a:moveTo>
                    <a:pt x="0" y="0"/>
                  </a:moveTo>
                  <a:lnTo>
                    <a:pt x="21945600" y="0"/>
                  </a:lnTo>
                  <a:lnTo>
                    <a:pt x="21945600" y="511278"/>
                  </a:lnTo>
                  <a:lnTo>
                    <a:pt x="0" y="511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6356" b="-7863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945600" cy="530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174450"/>
            <a:ext cx="2227650" cy="864013"/>
            <a:chOff x="0" y="0"/>
            <a:chExt cx="2970200" cy="1152017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970149" cy="1152017"/>
            </a:xfrm>
            <a:custGeom>
              <a:avLst/>
              <a:gdLst/>
              <a:ahLst/>
              <a:cxnLst/>
              <a:rect l="l" t="t" r="r" b="b"/>
              <a:pathLst>
                <a:path w="2970149" h="1152017">
                  <a:moveTo>
                    <a:pt x="0" y="575945"/>
                  </a:moveTo>
                  <a:cubicBezTo>
                    <a:pt x="0" y="257937"/>
                    <a:pt x="664845" y="0"/>
                    <a:pt x="1485138" y="0"/>
                  </a:cubicBezTo>
                  <a:cubicBezTo>
                    <a:pt x="2305431" y="0"/>
                    <a:pt x="2970149" y="257937"/>
                    <a:pt x="2970149" y="575945"/>
                  </a:cubicBezTo>
                  <a:cubicBezTo>
                    <a:pt x="2970149" y="893953"/>
                    <a:pt x="2305304" y="1152017"/>
                    <a:pt x="1485138" y="1152017"/>
                  </a:cubicBezTo>
                  <a:cubicBezTo>
                    <a:pt x="664972" y="1152017"/>
                    <a:pt x="0" y="894080"/>
                    <a:pt x="0" y="57594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70200" cy="1209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Strike 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2703471" cy="1276531"/>
            <a:chOff x="0" y="0"/>
            <a:chExt cx="3604628" cy="17020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04641" cy="1702054"/>
            </a:xfrm>
            <a:custGeom>
              <a:avLst/>
              <a:gdLst/>
              <a:ahLst/>
              <a:cxnLst/>
              <a:rect l="l" t="t" r="r" b="b"/>
              <a:pathLst>
                <a:path w="3604641" h="1702054">
                  <a:moveTo>
                    <a:pt x="0" y="0"/>
                  </a:moveTo>
                  <a:lnTo>
                    <a:pt x="3604641" y="0"/>
                  </a:lnTo>
                  <a:lnTo>
                    <a:pt x="3604641" y="1702054"/>
                  </a:lnTo>
                  <a:lnTo>
                    <a:pt x="0" y="1702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89418" y="1359752"/>
            <a:ext cx="14309972" cy="625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1) Agricultural Market &amp; Price Discovery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agmarknet.gov.in/home"/>
              </a:rPr>
              <a:t>AGMARKNET – Agricultural Market Information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Agricultural Market Transformation &amp; Digital Price Discovery – 2026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2) Farmer Market Access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link.springer.com/article/10.1007/s43621-025-01412-5?utm_source="/>
              </a:rPr>
              <a:t>Determinants of Small Farmers’ Access to Agricultural Markets – Springer Nature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epubs.icar.org.in/index.php/IJEE/article/view/139735?utm_source="/>
              </a:rPr>
              <a:t>Awareness and Determinants of Farmers’ Participation in e-Marketing – ICAR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e-NAM FPO Participation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3) Digital Agriculture &amp; Farmer Adoption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epubs.icar.org.in/index.php/IJEE/article/view/178205?utm_source="/>
              </a:rPr>
              <a:t>Determinants, Knowledge and Constraints of e-NAM Adoption in Tamil Nadu – ICAR, 2026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Transforming Agricultural Trading and Commerce in India – Agricultural Economics Research Review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4) Government Research &amp; Agricultural Markets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e-NAM Digital Transformation of Agricultural Trade – PIB, 2026</a:t>
            </a:r>
          </a:p>
          <a:p>
            <a:pPr algn="l">
              <a:lnSpc>
                <a:spcPts val="3239"/>
              </a:lnSpc>
            </a:pPr>
            <a:r>
              <a:rPr lang="en-US" sz="16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5) Post-Harvest Loss &amp; Supply Chain</a:t>
            </a:r>
          </a:p>
          <a:p>
            <a:pPr marL="582925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1600" b="1" u="sng" dirty="0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www.mofpi.gov.in/en/announcements/request-proposal-rfp-%E2%80%9Cstudy-determine-post-harvest-losses-agri-produce-india%E2%80%9D?utm_source=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 on Post-Harvest Losses of Agricultural Produce – </a:t>
            </a:r>
            <a:r>
              <a:rPr lang="en-US" sz="1600" b="1" u="sng" dirty="0" err="1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www.mofpi.gov.in/en/announcements/request-proposal-rfp-%E2%80%9Cstudy-determine-post-harvest-losses-agri-produce-india%E2%80%9D?utm_source=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MoFPI</a:t>
            </a:r>
            <a:endParaRPr lang="en-US" sz="1600" b="1" u="sng" dirty="0">
              <a:solidFill>
                <a:srgbClr val="0000FF"/>
              </a:solidFill>
              <a:latin typeface="Arimo Bold"/>
              <a:ea typeface="Arimo Bold"/>
              <a:cs typeface="Arimo Bold"/>
              <a:sym typeface="Arimo Bold"/>
              <a:hlinkClick r:id="rId9" tooltip="https://www.mofpi.gov.in/en/announcements/request-proposal-rfp-%E2%80%9Cstudy-determine-post-harvest-losses-agri-produce-india%E2%80%9D?utm_source=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91462" lvl="1" algn="l">
              <a:lnSpc>
                <a:spcPts val="3239"/>
              </a:lnSpc>
            </a:pPr>
            <a:endParaRPr lang="en-US" sz="1600" b="1" u="sng" dirty="0">
              <a:solidFill>
                <a:srgbClr val="0000FF"/>
              </a:solidFill>
              <a:latin typeface="Arimo Bold"/>
              <a:ea typeface="Arimo Bold"/>
              <a:cs typeface="Arimo Bold"/>
              <a:sym typeface="Arimo Bold"/>
              <a:hlinkClick r:id="rId9" tooltip="https://www.mofpi.gov.in/en/announcements/request-proposal-rfp-%E2%80%9Cstudy-determine-post-harvest-losses-agri-produce-india%E2%80%9D?utm_source=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E20588-ED9B-A2B7-334F-3B871311AE92}"/>
              </a:ext>
            </a:extLst>
          </p:cNvPr>
          <p:cNvSpPr/>
          <p:nvPr/>
        </p:nvSpPr>
        <p:spPr>
          <a:xfrm>
            <a:off x="251550" y="7309398"/>
            <a:ext cx="17784899" cy="2524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FE390-277B-EFB2-74C1-C663D257E528}"/>
              </a:ext>
            </a:extLst>
          </p:cNvPr>
          <p:cNvSpPr txBox="1"/>
          <p:nvPr/>
        </p:nvSpPr>
        <p:spPr>
          <a:xfrm>
            <a:off x="475612" y="7613259"/>
            <a:ext cx="363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C519C6-2A8A-AADF-A8CD-5CE6E580E8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71" b="35727"/>
          <a:stretch>
            <a:fillRect/>
          </a:stretch>
        </p:blipFill>
        <p:spPr>
          <a:xfrm>
            <a:off x="8286305" y="7353299"/>
            <a:ext cx="4572000" cy="23622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D8CB1FF-1935-3089-BFD9-3907341BDAA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0898" b="-17030"/>
          <a:stretch>
            <a:fillRect/>
          </a:stretch>
        </p:blipFill>
        <p:spPr>
          <a:xfrm>
            <a:off x="4114800" y="7505700"/>
            <a:ext cx="4047458" cy="2678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1069B6-43CF-FA25-D673-4AE43BA1EE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8" b="-1"/>
          <a:stretch>
            <a:fillRect/>
          </a:stretch>
        </p:blipFill>
        <p:spPr>
          <a:xfrm>
            <a:off x="13022170" y="7459064"/>
            <a:ext cx="4707306" cy="22564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B4646D-AAC6-CF32-37CA-BBB72BE447F6}"/>
              </a:ext>
            </a:extLst>
          </p:cNvPr>
          <p:cNvSpPr txBox="1"/>
          <p:nvPr/>
        </p:nvSpPr>
        <p:spPr>
          <a:xfrm>
            <a:off x="475612" y="8136480"/>
            <a:ext cx="351514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DEMO LINK: </a:t>
            </a:r>
            <a:r>
              <a:rPr lang="en-US" sz="2800" dirty="0">
                <a:hlinkClick r:id="rId12"/>
              </a:rPr>
              <a:t>Click Here</a:t>
            </a:r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225</Words>
  <Application>Microsoft Office PowerPoint</Application>
  <PresentationFormat>Custom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 (MS)</vt:lpstr>
      <vt:lpstr>Arimo Bold</vt:lpstr>
      <vt:lpstr>Times New Roman Bold</vt:lpstr>
      <vt:lpstr>Garamond Bold</vt:lpstr>
      <vt:lpstr>Calibri</vt:lpstr>
      <vt:lpstr>Arimo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Team_Strike_Out-SIH2026PPT</dc:title>
  <dc:creator>Bavadarini</dc:creator>
  <cp:lastModifiedBy>Bhavadarini Mahendran</cp:lastModifiedBy>
  <cp:revision>3</cp:revision>
  <dcterms:created xsi:type="dcterms:W3CDTF">2006-08-16T00:00:00Z</dcterms:created>
  <dcterms:modified xsi:type="dcterms:W3CDTF">2026-08-30T17:24:51Z</dcterms:modified>
  <dc:identifier>DAHTwneAWuA</dc:identifier>
</cp:coreProperties>
</file>